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2" r:id="rId4"/>
    <p:sldId id="279" r:id="rId5"/>
    <p:sldId id="275" r:id="rId6"/>
    <p:sldId id="258" r:id="rId7"/>
    <p:sldId id="278" r:id="rId8"/>
    <p:sldId id="259" r:id="rId9"/>
    <p:sldId id="276" r:id="rId10"/>
    <p:sldId id="260" r:id="rId11"/>
    <p:sldId id="277" r:id="rId12"/>
    <p:sldId id="273" r:id="rId13"/>
    <p:sldId id="265" r:id="rId14"/>
    <p:sldId id="263" r:id="rId15"/>
    <p:sldId id="264" r:id="rId16"/>
    <p:sldId id="272" r:id="rId17"/>
    <p:sldId id="261" r:id="rId18"/>
    <p:sldId id="274" r:id="rId19"/>
    <p:sldId id="268" r:id="rId20"/>
    <p:sldId id="269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A68297-D5F2-4D4D-91FD-4693864B68F7}" v="2446" dt="2026-02-20T18:03:46.228"/>
    <p1510:client id="{E9796A12-D7AA-4710-B627-EB6AD03464D6}" v="2056" dt="2026-02-19T23:08:11.3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freepngimg.com/png/27433-apple-logo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Diversification Importance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Zach Lees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F06B1-ABAE-BB1A-A89D-97B02B072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C33676-D9B1-B294-26A9-82EF9EB7DD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We will be looking over a diversified portfolio made up of 10 stocks.</a:t>
            </a:r>
          </a:p>
          <a:p>
            <a:r>
              <a:rPr lang="en-US" dirty="0"/>
              <a:t>Look at one of the stocks in this portfolio, Apple Corp.</a:t>
            </a:r>
          </a:p>
          <a:p>
            <a:r>
              <a:rPr lang="en-US" dirty="0"/>
              <a:t>Look at a diversified portfolio made of VBTLX and VFAIX.</a:t>
            </a:r>
          </a:p>
          <a:p>
            <a:r>
              <a:rPr lang="en-US" dirty="0"/>
              <a:t>Compare the expected return and risk associated between them. </a:t>
            </a:r>
          </a:p>
          <a:p>
            <a:r>
              <a:rPr lang="en-US" dirty="0"/>
              <a:t>Detail the differences between investing in a diversified portfolio versus a single high achieving stock.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1889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5880A-1248-959E-AA7F-29EC7D074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10 Stocks in the Portfolio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2D051B-18F1-B956-C345-DD33B9F4A4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928" y="1825625"/>
            <a:ext cx="4527358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These are the 10 stocks that will be in the portfolio.</a:t>
            </a:r>
          </a:p>
          <a:p>
            <a:r>
              <a:rPr lang="en-US" dirty="0"/>
              <a:t>We can see that Apple has a mean greater than half of the portfolio as shown by it being highlighted green.</a:t>
            </a:r>
          </a:p>
          <a:p>
            <a:r>
              <a:rPr lang="en-US" dirty="0"/>
              <a:t>Apple also has a Sharpe ratio higher than half of the portfolio.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09E04C9-6C39-77E2-13B9-3F5DD81FE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0648" y="2428539"/>
            <a:ext cx="7119794" cy="3163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0638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AE8DF-0E9F-0665-6DB7-D7C9F6FD2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Sharpe Ratio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42A206-C590-0095-8872-0AD17DFA01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27964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Sharpe ratio measure the excess return received for the extra volatility of a riskier asset.</a:t>
            </a:r>
          </a:p>
          <a:p>
            <a:r>
              <a:rPr lang="en-US" dirty="0"/>
              <a:t>Used to assess risk adjusted returns.</a:t>
            </a:r>
          </a:p>
          <a:p>
            <a:r>
              <a:rPr lang="en-US" dirty="0"/>
              <a:t>A higher Sharpe ratio (&gt;1) is good.</a:t>
            </a:r>
          </a:p>
        </p:txBody>
      </p:sp>
      <p:pic>
        <p:nvPicPr>
          <p:cNvPr id="4" name="Picture 3" descr="A mathematical equation with black text&#10;&#10;AI-generated content may be incorrect.">
            <a:extLst>
              <a:ext uri="{FF2B5EF4-FFF2-40B4-BE49-F238E27FC236}">
                <a16:creationId xmlns:a16="http://schemas.microsoft.com/office/drawing/2014/main" id="{17A8A014-2CCF-E074-7CC5-3E48509D73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8943" y="2301784"/>
            <a:ext cx="3190875" cy="11334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B7499E1-E04A-E0A9-7FA7-563A05DD93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1265" y="4645562"/>
            <a:ext cx="3009900" cy="866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9880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4A3B8-3E56-084E-A653-EA480560B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Portfolio of 10 stocks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A317AB-5DC6-ECAB-11F4-7D00824253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63988"/>
            <a:ext cx="6267091" cy="480545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This is a portfolio made up of 10 securities.</a:t>
            </a:r>
          </a:p>
          <a:p>
            <a:r>
              <a:rPr lang="en-US" dirty="0"/>
              <a:t>We use the optimal allocation of assets to determine the specific weights.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That is to say, we determine which stocks we should invest in to maximize our return for a specific level of risk, by maximizing the Sharpe ratio.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17.079% of our portfolio is Apple stock (appl), and 0% of the portfolio is Wells Fargo and Co stock (</a:t>
            </a:r>
            <a:r>
              <a:rPr lang="en-US" dirty="0" err="1"/>
              <a:t>wfc</a:t>
            </a:r>
            <a:r>
              <a:rPr lang="en-US" dirty="0"/>
              <a:t>).</a:t>
            </a:r>
          </a:p>
        </p:txBody>
      </p:sp>
      <p:pic>
        <p:nvPicPr>
          <p:cNvPr id="4" name="Picture 3" descr="A graph with numbers and letters&#10;&#10;AI-generated content may be incorrect.">
            <a:extLst>
              <a:ext uri="{FF2B5EF4-FFF2-40B4-BE49-F238E27FC236}">
                <a16:creationId xmlns:a16="http://schemas.microsoft.com/office/drawing/2014/main" id="{C430F0B1-AEDE-7372-CFCA-ACBD7CFF33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3158" y="1666875"/>
            <a:ext cx="3524250" cy="3524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72019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4F515-8B21-8438-A51F-E187277A4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Portfolio Allowing Shorting</a:t>
            </a:r>
          </a:p>
        </p:txBody>
      </p:sp>
      <p:pic>
        <p:nvPicPr>
          <p:cNvPr id="4" name="Content Placeholder 3" descr="A screenshot of a graph&#10;&#10;AI-generated content may be incorrect.">
            <a:extLst>
              <a:ext uri="{FF2B5EF4-FFF2-40B4-BE49-F238E27FC236}">
                <a16:creationId xmlns:a16="http://schemas.microsoft.com/office/drawing/2014/main" id="{3DDA7310-89FC-AE0C-E696-A9964465A7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42117" y="2079625"/>
            <a:ext cx="5810615" cy="3289157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A48C4EB-E259-3617-A031-A31363EFAD6A}"/>
              </a:ext>
            </a:extLst>
          </p:cNvPr>
          <p:cNvSpPr txBox="1">
            <a:spLocks/>
          </p:cNvSpPr>
          <p:nvPr/>
        </p:nvSpPr>
        <p:spPr>
          <a:xfrm>
            <a:off x="672220" y="1840714"/>
            <a:ext cx="4298888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Shorting allows the return and Sharpe ratio to be higher compared to not allowing shorting</a:t>
            </a:r>
          </a:p>
          <a:p>
            <a:r>
              <a:rPr lang="en-US" dirty="0"/>
              <a:t>For this example, we will not be using shorting.</a:t>
            </a:r>
          </a:p>
        </p:txBody>
      </p:sp>
    </p:spTree>
    <p:extLst>
      <p:ext uri="{BB962C8B-B14F-4D97-AF65-F5344CB8AC3E}">
        <p14:creationId xmlns:p14="http://schemas.microsoft.com/office/powerpoint/2010/main" val="14537469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C0BB4-D2C7-75A6-DA28-611DF8D85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Mean and Standard deviation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BC14AE-D72D-0EE2-3875-F8FB99F663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Mean is the expected returns over time.</a:t>
            </a:r>
          </a:p>
          <a:p>
            <a:r>
              <a:rPr lang="en-US" dirty="0"/>
              <a:t>Standard deviation, is our variability around the mean.</a:t>
            </a:r>
          </a:p>
          <a:p>
            <a:r>
              <a:rPr lang="en-US" dirty="0"/>
              <a:t>If we have a mean of 1% and a standard deviation of 5% for monthly returns.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Then we expect to see a 5% variability around the mean, 1%, in 68% of cases.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We expect the monthly return to be between -4% and 6% in 68% of months.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latin typeface="Calibri"/>
                <a:ea typeface="Calibri"/>
                <a:cs typeface="Calibri"/>
              </a:rPr>
              <a:t>We expect the monthly return to be between -9% and 11% in 95% of months.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latin typeface="Calibri"/>
                <a:ea typeface="Calibri"/>
                <a:cs typeface="Calibri"/>
              </a:rPr>
              <a:t>We can see higher or lower returns per month, but it's unlikely (&lt;5%).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16729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85BF8-DC5B-E39B-A03A-84D96E73C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Portfolio Constrained (Not allowing shorting)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5AACEC-AF3A-ACCB-5F85-D48899F9A3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90451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We can see a mean of 0.106%.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This means that every month, we expect to see an average increase of 2.22%.</a:t>
            </a:r>
          </a:p>
          <a:p>
            <a:r>
              <a:rPr lang="en-US" dirty="0"/>
              <a:t>The standard deviation is 1.258%.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This represents our daily variability.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We expect to see a variation of +-5.76% per month.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 descr="A screenshot of a graph&#10;&#10;AI-generated content may be incorrect.">
            <a:extLst>
              <a:ext uri="{FF2B5EF4-FFF2-40B4-BE49-F238E27FC236}">
                <a16:creationId xmlns:a16="http://schemas.microsoft.com/office/drawing/2014/main" id="{597BF68D-B21D-9853-27F2-6EBBE88B39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3574" y="2063702"/>
            <a:ext cx="6215881" cy="3407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2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F9E34-AD70-E03A-E4FA-E0C49B0C8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 Stock, Apple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091C5-91FE-C441-FA88-FAA6C89E66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735782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We are comparing a single stock, Apple (appl) to two portfolios of varying diversification.</a:t>
            </a:r>
          </a:p>
          <a:p>
            <a:r>
              <a:rPr lang="en-US" dirty="0"/>
              <a:t>Apple Inc is technology company.</a:t>
            </a:r>
          </a:p>
        </p:txBody>
      </p:sp>
      <p:pic>
        <p:nvPicPr>
          <p:cNvPr id="5" name="Picture 4" descr="A white apple logo with a bite taken out of it&#10;&#10;AI-generated content may be incorrect.">
            <a:extLst>
              <a:ext uri="{FF2B5EF4-FFF2-40B4-BE49-F238E27FC236}">
                <a16:creationId xmlns:a16="http://schemas.microsoft.com/office/drawing/2014/main" id="{F6A4EE87-B00A-619B-279B-6791A2E1CC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929803" y="2291773"/>
            <a:ext cx="1905000" cy="1905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AB52D8C-484F-8DC9-C127-6D8B55BD80ED}"/>
              </a:ext>
            </a:extLst>
          </p:cNvPr>
          <p:cNvSpPr txBox="1"/>
          <p:nvPr/>
        </p:nvSpPr>
        <p:spPr>
          <a:xfrm>
            <a:off x="7929803" y="4196773"/>
            <a:ext cx="1905000" cy="317500"/>
          </a:xfrm>
          <a:prstGeom prst="rect">
            <a:avLst/>
          </a:prstGeom>
        </p:spPr>
        <p:txBody>
          <a:bodyPr>
            <a:normAutofit fontScale="47500" lnSpcReduction="20000"/>
          </a:bodyPr>
          <a:lstStyle/>
          <a:p>
            <a:r>
              <a:rPr lang="en-US"/>
              <a:t>ThePhoto by PhotoAuthor is licensed under CCYYSA.</a:t>
            </a:r>
          </a:p>
        </p:txBody>
      </p:sp>
    </p:spTree>
    <p:extLst>
      <p:ext uri="{BB962C8B-B14F-4D97-AF65-F5344CB8AC3E}">
        <p14:creationId xmlns:p14="http://schemas.microsoft.com/office/powerpoint/2010/main" val="20095793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09415-DCD1-8D36-58D5-339630CB6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Apple Stock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27550-25C7-031B-B1EE-B43246BF83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34412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We expect to see an average increase of 1.76% per month for the apple stock.</a:t>
            </a:r>
          </a:p>
          <a:p>
            <a:r>
              <a:rPr lang="en-US" dirty="0"/>
              <a:t>We expect to see a variation of +-7.57% per month.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We expect to see +-7.57% variation in 68% of cases.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We expect to see +-15.14% variation in 95% of months.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US"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D84162C-1AA1-04B3-EB10-9CE5DF4187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5443" y="1026861"/>
            <a:ext cx="4743450" cy="5362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98379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66B8D-F089-CEDF-644E-6F6E9402D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5064"/>
            <a:ext cx="10515600" cy="1325563"/>
          </a:xfrm>
        </p:spPr>
        <p:txBody>
          <a:bodyPr/>
          <a:lstStyle/>
          <a:p>
            <a:r>
              <a:rPr lang="en-US" dirty="0"/>
              <a:t>Portfolio of VBTLX and VFIAX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C3747D-B2C8-07EC-0785-6F8E49AC94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2875" y="1379202"/>
            <a:ext cx="8321528" cy="547509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VBTLX is Vanguard's Total Bond Market Index Fund.</a:t>
            </a:r>
          </a:p>
          <a:p>
            <a:r>
              <a:rPr lang="en-US" dirty="0"/>
              <a:t>VFIAX is Vanguard's 500 Index Fund (equities).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Tracks the S&amp;P500.</a:t>
            </a:r>
          </a:p>
          <a:p>
            <a:r>
              <a:rPr lang="en-US" dirty="0"/>
              <a:t>This is a portfolio of these two funds to make the portfolio as optimal as possible, by maximizing the Sharpe ratio. </a:t>
            </a:r>
          </a:p>
          <a:p>
            <a:r>
              <a:rPr lang="en-US" dirty="0"/>
              <a:t>The allocation is 67.85% in VBTLX and 32.15% into VFIAX.</a:t>
            </a:r>
          </a:p>
          <a:p>
            <a:r>
              <a:rPr lang="en-US" dirty="0"/>
              <a:t>Due to bonds being inversely correlated with equities, it allows us to achieve a higher Sharpe ratio, and lower standard deviation (volatility).</a:t>
            </a:r>
          </a:p>
        </p:txBody>
      </p:sp>
      <p:pic>
        <p:nvPicPr>
          <p:cNvPr id="5" name="Picture 4" descr="A black text and numbers&#10;&#10;AI-generated content may be incorrect.">
            <a:extLst>
              <a:ext uri="{FF2B5EF4-FFF2-40B4-BE49-F238E27FC236}">
                <a16:creationId xmlns:a16="http://schemas.microsoft.com/office/drawing/2014/main" id="{DB3658E4-944E-8E82-A1A5-909E4E1361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0364" y="2644450"/>
            <a:ext cx="3971925" cy="125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65298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7A195-9AD3-07A7-D347-F6A153133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VBTLX and VFIAX Portfolio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B75078-A782-1304-5C9D-94609E3457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466994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A mean of 0.569% means we expect to see an average return of 0.569% every month.</a:t>
            </a:r>
            <a:endParaRPr lang="en-US"/>
          </a:p>
          <a:p>
            <a:r>
              <a:rPr lang="en-US" dirty="0"/>
              <a:t>We expect to see a variation of  +-1.085% per month.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7718EB2-F9F6-6F4C-9C4E-717A592BBB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1852" y="1603038"/>
            <a:ext cx="4038600" cy="4791075"/>
          </a:xfrm>
          <a:prstGeom prst="rect">
            <a:avLst/>
          </a:prstGeom>
        </p:spPr>
      </p:pic>
      <p:pic>
        <p:nvPicPr>
          <p:cNvPr id="6" name="Picture 5" descr="A black text and numbers&#10;&#10;AI-generated content may be incorrect.">
            <a:extLst>
              <a:ext uri="{FF2B5EF4-FFF2-40B4-BE49-F238E27FC236}">
                <a16:creationId xmlns:a16="http://schemas.microsoft.com/office/drawing/2014/main" id="{5129F137-DF82-68E7-1D27-BE686F742B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1492" y="4924714"/>
            <a:ext cx="3971925" cy="125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07182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4DB51-7438-CE22-442B-15EB8A519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 these Means and Standard Deviations actually tell us?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648FA9-9718-C1EA-D685-42CB3A6689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Since we know Apple is one of the higher achieving stocks, let's compare it to the portfolios as a whole.</a:t>
            </a:r>
          </a:p>
          <a:p>
            <a:r>
              <a:rPr lang="en-US" dirty="0"/>
              <a:t>Let's say we want to invest $100,000 into each.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We invest $100,000 into Apple.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dirty="0">
                <a:latin typeface="Calibri"/>
                <a:ea typeface="Calibri"/>
                <a:cs typeface="Calibri"/>
              </a:rPr>
              <a:t>We invest $100,000 into the 10 stock portfolio.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dirty="0">
                <a:latin typeface="Calibri"/>
                <a:ea typeface="Calibri"/>
                <a:cs typeface="Calibri"/>
              </a:rPr>
              <a:t>We invest $100,000 into the VBTLX and VFIAX portfolio.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81095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A1882-337A-1D8F-E29F-E84B270FB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Investing $100,000 into Apple in January 2012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EE0DA3-54E0-E06C-AEEC-365269A327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4" y="1833169"/>
            <a:ext cx="4863857" cy="432116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The final value of the position on June 30th 2016 is $179,508.</a:t>
            </a:r>
          </a:p>
          <a:p>
            <a:r>
              <a:rPr lang="en-US" dirty="0"/>
              <a:t>Even though Apple has a high mean, the high variation results in the earnings to stagnate and perform poorly during times of economic downturn.</a:t>
            </a:r>
          </a:p>
        </p:txBody>
      </p:sp>
      <p:pic>
        <p:nvPicPr>
          <p:cNvPr id="4" name="Picture 3" descr="A graph of a stock return&#10;&#10;AI-generated content may be incorrect.">
            <a:extLst>
              <a:ext uri="{FF2B5EF4-FFF2-40B4-BE49-F238E27FC236}">
                <a16:creationId xmlns:a16="http://schemas.microsoft.com/office/drawing/2014/main" id="{D8D9EFC2-0A98-0682-51DF-2A43A7B67F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1509" y="1553441"/>
            <a:ext cx="7162800" cy="430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2095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7ED63-00C9-5D96-B67D-DF4D79140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Investing $100,000 into the 10 Stock Portfolio in January 2012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3BE2AB-729A-7A92-B743-E7FD6F7601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4" y="1855803"/>
            <a:ext cx="4931758" cy="432116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The final value of the position on June 30th 2016 is $319,987.</a:t>
            </a:r>
          </a:p>
          <a:p>
            <a:r>
              <a:rPr lang="en-US" dirty="0"/>
              <a:t>Due to a lower standard deviation, we see steadier earnings and less variability.</a:t>
            </a:r>
          </a:p>
          <a:p>
            <a:r>
              <a:rPr lang="en-US" dirty="0"/>
              <a:t>But we do see some variability due to the increased risk.</a:t>
            </a:r>
          </a:p>
        </p:txBody>
      </p:sp>
      <p:pic>
        <p:nvPicPr>
          <p:cNvPr id="7" name="Picture 6" descr="A graph of a stock portfolio return&#10;&#10;AI-generated content may be incorrect.">
            <a:extLst>
              <a:ext uri="{FF2B5EF4-FFF2-40B4-BE49-F238E27FC236}">
                <a16:creationId xmlns:a16="http://schemas.microsoft.com/office/drawing/2014/main" id="{7356FA29-15B2-3D88-6EEA-36DA7A41D7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1509" y="1538047"/>
            <a:ext cx="7162800" cy="430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5248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3D9C1-DC78-6BA1-9AA0-64EE81DB6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Investing $100,000 into the Diversified Portfolio in January 2012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B8DD14-3220-2BE2-1685-9CC72AC501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2875" y="1868756"/>
            <a:ext cx="5907657" cy="432258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The final value of the position on July 2016 is $136,163.</a:t>
            </a:r>
          </a:p>
          <a:p>
            <a:r>
              <a:rPr lang="en-US" dirty="0"/>
              <a:t>Due to a lower standard deviation, we see steadier earnings and less variability.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This means that even during times of economic downturn we expect our portfolio to be less affected.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89D2BE-3E25-64CF-6032-26409F7211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2460" y="1868798"/>
            <a:ext cx="6307348" cy="3809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1990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D526C-2691-DB3B-7709-AC3A59719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Comparing the 10 Stock Portfolio and Apple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69A57B-3682-AE06-14CB-778760E15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675419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The portfolio expected average is higher than Apple's expected average.</a:t>
            </a:r>
          </a:p>
          <a:p>
            <a:r>
              <a:rPr lang="en-US" dirty="0"/>
              <a:t>Apple has a higher standard deviation (risk) compared to the portfolio.</a:t>
            </a:r>
          </a:p>
          <a:p>
            <a:r>
              <a:rPr lang="en-US" dirty="0"/>
              <a:t>This is reflected in the Sharpe ratios for both the portfolio and Apple's.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The 10 stock portfolio Sharpe ratio is 0.386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Apple's Sharpe ratio is 0.233</a:t>
            </a:r>
          </a:p>
        </p:txBody>
      </p:sp>
    </p:spTree>
    <p:extLst>
      <p:ext uri="{BB962C8B-B14F-4D97-AF65-F5344CB8AC3E}">
        <p14:creationId xmlns:p14="http://schemas.microsoft.com/office/powerpoint/2010/main" val="9785540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0BD64-748E-4A77-BD98-757A662A0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Comparing VBTLX &amp; VFIAX Portfolio to Apple and the 10 Stock Portfolio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2ADD53-0CC7-C528-8F16-03C30B9113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The expected return of both the 10 stock portfolio and Apple are higher than the VBTLX &amp; VFIAX portfolio (diversified).</a:t>
            </a:r>
          </a:p>
          <a:p>
            <a:r>
              <a:rPr lang="en-US" dirty="0"/>
              <a:t>The standard deviation of the diversified portfolio is much lower, only 1.09% monthly.</a:t>
            </a:r>
          </a:p>
          <a:p>
            <a:r>
              <a:rPr lang="en-US" dirty="0"/>
              <a:t>The Sharpe ratio of the diversified portfolio is higher at 0.524.</a:t>
            </a:r>
          </a:p>
        </p:txBody>
      </p:sp>
    </p:spTree>
    <p:extLst>
      <p:ext uri="{BB962C8B-B14F-4D97-AF65-F5344CB8AC3E}">
        <p14:creationId xmlns:p14="http://schemas.microsoft.com/office/powerpoint/2010/main" val="16533366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7F358-B9DA-FEBC-9BBF-9FE241A4E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Diversification Impact on Returns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1CEE08-FC88-3726-FA43-D8E5224A37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Even though we looked at Apple, a stock in the top half of performance (mean, Sharpe) compared to the other stocks in 10 stock portfolio, we found the portfolio outperformed.</a:t>
            </a:r>
          </a:p>
          <a:p>
            <a:r>
              <a:rPr lang="en-US" dirty="0"/>
              <a:t>In our example from before, investing $100,000 Apple returned $179,508. 10 Stock portfolio returned $319,987. And the diversified portfolio returned $136,163.</a:t>
            </a:r>
          </a:p>
          <a:p>
            <a:r>
              <a:rPr lang="en-US" dirty="0"/>
              <a:t>We saw significantly less variability in the portfolio graphs compared to Apple's graph that fell from nearly $250,000 to the ending return of $179,508.</a:t>
            </a:r>
          </a:p>
        </p:txBody>
      </p:sp>
    </p:spTree>
    <p:extLst>
      <p:ext uri="{BB962C8B-B14F-4D97-AF65-F5344CB8AC3E}">
        <p14:creationId xmlns:p14="http://schemas.microsoft.com/office/powerpoint/2010/main" val="1858328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F48BB-5C5F-C26A-1134-27D52A8B2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Diversification Reduces Risk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34B2C0-553B-744A-1A1E-04301A1752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06733"/>
            <a:ext cx="10515600" cy="437023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A portfolio reduces unsystematic risk, allowing for more efficient geometric compounding over time.</a:t>
            </a:r>
          </a:p>
          <a:p>
            <a:r>
              <a:rPr lang="en-US" dirty="0"/>
              <a:t>Having a portfolio instead of a small amount of stocks that you are invested into decreases volatility.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dirty="0">
                <a:latin typeface="Calibri"/>
                <a:ea typeface="Calibri"/>
                <a:cs typeface="Calibri"/>
              </a:rPr>
              <a:t>That is to say, when the stock market isn't doing well, you're portfolio likely won't decrease as much compared to if you were invested into a small handful of stocks.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dirty="0">
                <a:latin typeface="Calibri"/>
                <a:ea typeface="Calibri"/>
                <a:cs typeface="Calibri"/>
              </a:rPr>
              <a:t>We see smoother earnings and less downside risk.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US" dirty="0">
              <a:latin typeface="Aptos" panose="020B0004020202020204"/>
              <a:ea typeface="Calibri"/>
              <a:cs typeface="Calibri"/>
            </a:endParaRPr>
          </a:p>
          <a:p>
            <a:endParaRPr lang="en-US" dirty="0">
              <a:latin typeface="Aptos" panose="020B0004020202020204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144663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Diversification Importance</vt:lpstr>
      <vt:lpstr>Objectives</vt:lpstr>
      <vt:lpstr>The 10 Stocks in the Portfolio</vt:lpstr>
      <vt:lpstr>Sharpe Ratio</vt:lpstr>
      <vt:lpstr>Portfolio of 10 stocks</vt:lpstr>
      <vt:lpstr>Portfolio Allowing Shorting</vt:lpstr>
      <vt:lpstr>Mean and Standard deviation</vt:lpstr>
      <vt:lpstr>Portfolio Constrained (Not allowing shorting)</vt:lpstr>
      <vt:lpstr>Single Stock, Apple</vt:lpstr>
      <vt:lpstr>Apple Stock</vt:lpstr>
      <vt:lpstr>Portfolio of VBTLX and VFIAX</vt:lpstr>
      <vt:lpstr>VBTLX and VFIAX Portfolio</vt:lpstr>
      <vt:lpstr>What do these Means and Standard Deviations actually tell us?</vt:lpstr>
      <vt:lpstr>Investing $100,000 into Apple in January 2012</vt:lpstr>
      <vt:lpstr>Investing $100,000 into the 10 Stock Portfolio in January 2012</vt:lpstr>
      <vt:lpstr>Investing $100,000 into the Diversified Portfolio in January 2012</vt:lpstr>
      <vt:lpstr>Comparing the 10 Stock Portfolio and Apple</vt:lpstr>
      <vt:lpstr>Comparing VBTLX &amp; VFIAX Portfolio to Apple and the 10 Stock Portfolio </vt:lpstr>
      <vt:lpstr>Diversification Impact on Returns</vt:lpstr>
      <vt:lpstr>Diversification Reduces Risk 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900</cp:revision>
  <dcterms:created xsi:type="dcterms:W3CDTF">2026-02-19T18:51:08Z</dcterms:created>
  <dcterms:modified xsi:type="dcterms:W3CDTF">2026-02-20T18:05:16Z</dcterms:modified>
</cp:coreProperties>
</file>